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- 04 · Streaming Live RAG</a:t>
            </a:r>
            <a:endParaRPr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Project - Kairos: streaming live RAG that retrieves while you speak</a:t>
            </a:r>
            <a:endParaRPr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VITV_Kairos_4</a:t>
            </a:r>
            <a:endParaRPr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VIT Vellore (VITV)</a:t>
            </a:r>
            <a:endParaRPr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Sarthak Trivedi, sarthak.trivedi2024@vitstudent.ac.in</a:t>
            </a:r>
            <a:endParaRPr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2- Gurutheja Kavuturi</a:t>
            </a:r>
            <a:endParaRPr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3- Nigam Kundu</a:t>
            </a:r>
            <a:endParaRPr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github.com/CodeThread386/kairos-streaming-rag (tag PRISM_GENAI_HACKATHON_Y2026)</a:t>
            </a:r>
            <a:endParaRPr/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41248" y="141732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04EA6"/>
                </a:solidFill>
                <a:latin typeface="Calibri"/>
              </a:rPr>
              <a:t>Theme 04, Streaming Live RAG: </a:t>
            </a:r>
            <a:r>
              <a:rPr sz="1800" b="0">
                <a:solidFill>
                  <a:srgbClr val="14142B"/>
                </a:solidFill>
                <a:latin typeface="Calibri"/>
              </a:rPr>
              <a:t>in a full-duplex voice conversation, retrieve the right context mid-conversation from one natural command.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41248" y="2423160"/>
            <a:ext cx="6583680" cy="932688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69848" y="2551176"/>
            <a:ext cx="6126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4142B"/>
                </a:solidFill>
                <a:latin typeface="Calibri"/>
              </a:rPr>
              <a:t>It waits for silence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63637E"/>
                </a:solidFill>
                <a:latin typeface="Calibri"/>
              </a:rPr>
              <a:t>Batch RAG does nothing while the user speaks, then pays the whole retrieval round trip after they stop.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41248" y="3502152"/>
            <a:ext cx="6583680" cy="932688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69848" y="3630168"/>
            <a:ext cx="6126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4142B"/>
                </a:solidFill>
                <a:latin typeface="Calibri"/>
              </a:rPr>
              <a:t>One query for many asks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63637E"/>
                </a:solidFill>
                <a:latin typeface="Calibri"/>
              </a:rPr>
              <a:t>"Venues for 30 in Pune, the cancellation policy and the catering options" is three questions. One embedding blurs them.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41248" y="4581144"/>
            <a:ext cx="6583680" cy="932688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69848" y="4709160"/>
            <a:ext cx="6126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4142B"/>
                </a:solidFill>
                <a:latin typeface="Calibri"/>
              </a:rPr>
              <a:t>Late details restart it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63637E"/>
                </a:solidFill>
                <a:latin typeface="Calibri"/>
              </a:rPr>
              <a:t>"Actually, the trip was international." Restarting discards evidence, costs another full search and loses citations.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772400" y="1463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04EA6"/>
                </a:solidFill>
                <a:latin typeface="Calibri"/>
              </a:rPr>
              <a:t>What we committed to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772400" y="2011680"/>
            <a:ext cx="36576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har char="•"/>
            </a:pPr>
            <a:r>
              <a:rPr sz="1500" b="1">
                <a:solidFill>
                  <a:srgbClr val="14142B"/>
                </a:solidFill>
                <a:latin typeface="Calibri"/>
              </a:rPr>
              <a:t>Listen incrementally: </a:t>
            </a:r>
            <a:r>
              <a:rPr sz="1500" b="0">
                <a:solidFill>
                  <a:srgbClr val="14142B"/>
                </a:solidFill>
                <a:latin typeface="Calibri"/>
              </a:rPr>
              <a:t>decide on every chunk whether to wait, retrieve or skip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500" b="1">
                <a:solidFill>
                  <a:srgbClr val="14142B"/>
                </a:solidFill>
                <a:latin typeface="Calibri"/>
              </a:rPr>
              <a:t>Decompose </a:t>
            </a:r>
            <a:r>
              <a:rPr sz="1500" b="0">
                <a:solidFill>
                  <a:srgbClr val="14142B"/>
                </a:solidFill>
                <a:latin typeface="Calibri"/>
              </a:rPr>
              <a:t>one utterance into the questions it actually implies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500" b="1">
                <a:solidFill>
                  <a:srgbClr val="14142B"/>
                </a:solidFill>
                <a:latin typeface="Calibri"/>
              </a:rPr>
              <a:t>Refine, never restart, </a:t>
            </a:r>
            <a:r>
              <a:rPr sz="1500" b="0">
                <a:solidFill>
                  <a:srgbClr val="14142B"/>
                </a:solidFill>
                <a:latin typeface="Calibri"/>
              </a:rPr>
              <a:t>when a constraint arrives late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500" b="1">
                <a:solidFill>
                  <a:srgbClr val="14142B"/>
                </a:solidFill>
                <a:latin typeface="Calibri"/>
              </a:rPr>
              <a:t>Ground every claim </a:t>
            </a:r>
            <a:r>
              <a:rPr sz="1500" b="0">
                <a:solidFill>
                  <a:srgbClr val="14142B"/>
                </a:solidFill>
                <a:latin typeface="Calibri"/>
              </a:rPr>
              <a:t>in a cited section, or say it is unverified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500" b="1">
                <a:solidFill>
                  <a:srgbClr val="14142B"/>
                </a:solidFill>
                <a:latin typeface="Calibri"/>
              </a:rPr>
              <a:t>Prove it: </a:t>
            </a:r>
            <a:r>
              <a:rPr sz="1500" b="0">
                <a:solidFill>
                  <a:srgbClr val="14142B"/>
                </a:solidFill>
                <a:latin typeface="Calibri"/>
              </a:rPr>
              <a:t>measure all six acceptance gates G1–G6 on held-out streams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841248" y="1508760"/>
          <a:ext cx="1050950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657600"/>
                <a:gridCol w="4017264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91440" marR="91440" marT="36576" marB="36576" anchor="ctr">
                    <a:solidFill>
                      <a:srgbClr val="704E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91440" marR="91440" marT="36576" marB="36576" anchor="ctr">
                    <a:solidFill>
                      <a:srgbClr val="704E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Gap for live voice</a:t>
                      </a:r>
                    </a:p>
                  </a:txBody>
                  <a:tcPr marL="91440" marR="91440" marT="36576" marB="36576" anchor="ctr">
                    <a:solidFill>
                      <a:srgbClr val="704EA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  <a:latin typeface="Calibri"/>
                        </a:rPr>
                        <a:t>Batch RAG (default chains in common RAG frameworks)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  <a:latin typeface="Calibri"/>
                        </a:rPr>
                        <a:t>Waits for end of utterance, embeds it as one query, retrieves top-k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  <a:latin typeface="Calibri"/>
                        </a:rPr>
                        <a:t>Retrieval starts only after the user stops; compound requests become one blurred query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  <a:latin typeface="Calibri"/>
                        </a:rPr>
                        <a:t>LLM query rewriting / multi-query retrieval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  <a:latin typeface="Calibri"/>
                        </a:rPr>
                        <a:t>An LLM rewrites or splits the question before searching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  <a:latin typeface="Calibri"/>
                        </a:rPr>
                        <a:t>Adds an LLM round trip and cost per turn, still after the utterance ends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  <a:latin typeface="Calibri"/>
                        </a:rPr>
                        <a:t>Realtime speech LLM APIs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  <a:latin typeface="Calibri"/>
                        </a:rPr>
                        <a:t>Stream audio in and out with low latency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  <a:latin typeface="Calibri"/>
                        </a:rPr>
                        <a:t>Tool or retrieval calls fire after the turn; grounding and citations are left to the app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  <a:latin typeface="Calibri"/>
                        </a:rPr>
                        <a:t>Conversational RAG with history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  <a:latin typeface="Calibri"/>
                        </a:rPr>
                        <a:t>Condenses chat history into a standalone query each turn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  <a:latin typeface="Calibri"/>
                        </a:rPr>
                        <a:t>A late detail triggers a full new search; earlier evidence and citations are not carried forward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841248" y="5257800"/>
            <a:ext cx="10509504" cy="713232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15568" y="5349240"/>
            <a:ext cx="996086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04EA6"/>
                </a:solidFill>
                <a:latin typeface="Calibri"/>
              </a:rPr>
              <a:t>The gap: </a:t>
            </a:r>
            <a:r>
              <a:rPr sz="1500" b="0">
                <a:solidFill>
                  <a:srgbClr val="14142B"/>
                </a:solidFill>
                <a:latin typeface="Calibri"/>
              </a:rPr>
              <a:t>nothing decides when to retrieve while the user is still talking, splits the request cheaply, and patches a cited answer instead of restarting. Kairos does all three on a CPU, with no LLM in the loop.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pic>
        <p:nvPicPr>
          <p:cNvPr id="114" name="Picture 113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240" y="1280160"/>
            <a:ext cx="8859520" cy="498348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841248" y="6355080"/>
            <a:ext cx="10509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63637E"/>
                </a:solidFill>
                <a:latin typeface="Calibri"/>
              </a:rPr>
              <a:t>Controller ≈ 1 ms per chunk · retrieval ≈ 0.6 ms per query · answer starts ≈ 2 ms after the user stops · 0 LLM calls by default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pic>
        <p:nvPicPr>
          <p:cNvPr id="120" name="Picture 119" descr="ui_worksh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325880"/>
            <a:ext cx="5117592" cy="2665412"/>
          </a:xfrm>
          <a:prstGeom prst="rect">
            <a:avLst/>
          </a:prstGeom>
          <a:ln>
            <a:solidFill>
              <a:srgbClr val="DDD8EA"/>
            </a:solidFill>
          </a:ln>
        </p:spPr>
      </p:pic>
      <p:sp>
        <p:nvSpPr>
          <p:cNvPr id="121" name="TextBox 120"/>
          <p:cNvSpPr txBox="1"/>
          <p:nvPr/>
        </p:nvSpPr>
        <p:spPr>
          <a:xfrm>
            <a:off x="841248" y="4064444"/>
            <a:ext cx="5117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3637E"/>
                </a:solidFill>
                <a:latin typeface="Calibri"/>
              </a:rPr>
              <a:t>Three questions in one breath: retrievals fire 6.4 s before the speaker stops; answer starts 14 ms after.</a:t>
            </a:r>
          </a:p>
        </p:txBody>
      </p:sp>
      <p:pic>
        <p:nvPicPr>
          <p:cNvPr id="122" name="Picture 121" descr="ui_ref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160" y="1325880"/>
            <a:ext cx="5117592" cy="2478834"/>
          </a:xfrm>
          <a:prstGeom prst="rect">
            <a:avLst/>
          </a:prstGeom>
          <a:ln>
            <a:solidFill>
              <a:srgbClr val="DDD8EA"/>
            </a:solidFill>
          </a:ln>
        </p:spPr>
      </p:pic>
      <p:sp>
        <p:nvSpPr>
          <p:cNvPr id="123" name="TextBox 122"/>
          <p:cNvSpPr txBox="1"/>
          <p:nvPr/>
        </p:nvSpPr>
        <p:spPr>
          <a:xfrm>
            <a:off x="6233160" y="3877866"/>
            <a:ext cx="5117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3637E"/>
                </a:solidFill>
                <a:latin typeface="Calibri"/>
              </a:rPr>
              <a:t>Late detail "international, booked after travel": only the new details are searched; v2 keeps v1's citations.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841248" y="4800600"/>
            <a:ext cx="2421636" cy="123444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05840" y="4910328"/>
            <a:ext cx="209245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704EA6"/>
                </a:solidFill>
                <a:latin typeface="Calibri"/>
              </a:rPr>
              <a:t>Speech timeline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142B"/>
                </a:solidFill>
                <a:latin typeface="Calibri"/>
              </a:rPr>
              <a:t>Words as spoken; blue markers are retrievals fired before the amber "you stopped" line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537204" y="4800600"/>
            <a:ext cx="2421636" cy="123444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701796" y="4910328"/>
            <a:ext cx="209245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704EA6"/>
                </a:solidFill>
                <a:latin typeface="Calibri"/>
              </a:rPr>
              <a:t>Controller log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142B"/>
                </a:solidFill>
                <a:latin typeface="Calibri"/>
              </a:rPr>
              <a:t>Every WAIT / RETRIEVE / SUPPRESS decision with its reason and each sub-query's hits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233160" y="4800600"/>
            <a:ext cx="2421636" cy="123444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397752" y="4910328"/>
            <a:ext cx="209245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704EA6"/>
                </a:solidFill>
                <a:latin typeface="Calibri"/>
              </a:rPr>
              <a:t>Versioned, cited answer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142B"/>
                </a:solidFill>
                <a:latin typeface="Calibri"/>
              </a:rPr>
              <a:t>Citation chips open the source sentence; v2 lists kept, added and replaced claims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929116" y="4800600"/>
            <a:ext cx="2421636" cy="123444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093708" y="4910328"/>
            <a:ext cx="209245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704EA6"/>
                </a:solidFill>
                <a:latin typeface="Calibri"/>
              </a:rPr>
              <a:t>Live telemetry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142B"/>
                </a:solidFill>
                <a:latin typeface="Calibri"/>
              </a:rPr>
              <a:t>Time to first token, retrieval lead, queries fired and used, reuse, cost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41248" y="6144768"/>
            <a:ext cx="1050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3637E"/>
                </a:solidFill>
                <a:latin typeface="Calibri"/>
              </a:rPr>
              <a:t>Demo video (3:30): </a:t>
            </a:r>
            <a:r>
              <a:rPr sz="1200" b="0">
                <a:solidFill>
                  <a:srgbClr val="63637E"/>
                </a:solidFill>
                <a:latin typeface="Calibri"/>
              </a:rPr>
              <a:t>demo/kairos_demo.mp4 in the repository; YouTube link in the README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841248" y="1371600"/>
            <a:ext cx="5117592" cy="100584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42416" y="1490472"/>
            <a:ext cx="47152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04EA6"/>
                </a:solidFill>
                <a:latin typeface="Calibri"/>
              </a:rPr>
              <a:t>Streaming core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42B"/>
                </a:solidFill>
                <a:latin typeface="Calibri"/>
              </a:rPr>
              <a:t>Python 3.12 · asyncio · FastAPI + WebSocket · Uvicorn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233160" y="1371600"/>
            <a:ext cx="5117592" cy="100584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434328" y="1490472"/>
            <a:ext cx="47152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04EA6"/>
                </a:solidFill>
                <a:latin typeface="Calibri"/>
              </a:rPr>
              <a:t>Retrieval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42B"/>
                </a:solidFill>
                <a:latin typeface="Calibri"/>
              </a:rPr>
              <a:t>BM25 (own implementation) · WordLlama 256-d static embeddings (CPU, ships in the wheel) · reciprocal-rank fusion · NumPy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41248" y="2514600"/>
            <a:ext cx="5117592" cy="100584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42416" y="2633472"/>
            <a:ext cx="47152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04EA6"/>
                </a:solidFill>
                <a:latin typeface="Calibri"/>
              </a:rPr>
              <a:t>Language processing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42B"/>
                </a:solidFill>
                <a:latin typeface="Calibri"/>
              </a:rPr>
              <a:t>Snowball stemmer · corpus-derived lexicons (IDF, entities, scopes, aspects) · rule-based self-repair and clause segmentation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233160" y="2514600"/>
            <a:ext cx="5117592" cy="100584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34328" y="2633472"/>
            <a:ext cx="47152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04EA6"/>
                </a:solidFill>
                <a:latin typeface="Calibri"/>
              </a:rPr>
              <a:t>Ingestion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42B"/>
                </a:solidFill>
                <a:latin typeface="Calibri"/>
              </a:rPr>
              <a:t>Markdown / HTML / TXT / JSON parsers · pypdf · python-docx → section chunks with Doc_ID §N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841248" y="3657600"/>
            <a:ext cx="5117592" cy="100584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42416" y="3776472"/>
            <a:ext cx="47152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04EA6"/>
                </a:solidFill>
                <a:latin typeface="Calibri"/>
              </a:rPr>
              <a:t>Interface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42B"/>
                </a:solidFill>
                <a:latin typeface="Calibri"/>
              </a:rPr>
              <a:t>Single-page console (HTML + JS) · Web Speech API for live mic input · typed input streamed word by word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233160" y="3657600"/>
            <a:ext cx="5117592" cy="100584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434328" y="3776472"/>
            <a:ext cx="47152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04EA6"/>
                </a:solidFill>
                <a:latin typeface="Calibri"/>
              </a:rPr>
              <a:t>Quality &amp; ops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42B"/>
                </a:solidFill>
                <a:latin typeface="Calibri"/>
              </a:rPr>
              <a:t>pytest (16 tests) · jsonschema telemetry validation · replay benchmark harness · Docker + compose · GitHub Actions CI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41248" y="4800600"/>
            <a:ext cx="5117592" cy="100584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42416" y="4919472"/>
            <a:ext cx="47152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04EA6"/>
                </a:solidFill>
                <a:latin typeface="Calibri"/>
              </a:rPr>
              <a:t>Optional LLM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42B"/>
                </a:solidFill>
                <a:latin typeface="Calibri"/>
              </a:rPr>
              <a:t>Any OpenAI-compatible endpoint (Ollama, vLLM, OpenAI, Gemini, Groq) with a sentence-level grounding verifier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233160" y="4800600"/>
            <a:ext cx="5117592" cy="100584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34328" y="4919472"/>
            <a:ext cx="47152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04EA6"/>
                </a:solidFill>
                <a:latin typeface="Calibri"/>
              </a:rPr>
              <a:t>Demo production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42B"/>
                </a:solidFill>
                <a:latin typeface="Calibri"/>
              </a:rPr>
              <a:t>Playwright (scripted UI recording) · Kokoro-82M TTS via sherpa-onnx (offline narration) · ffmpeg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Rounded Rectangle 131"/>
          <p:cNvSpPr/>
          <p:nvPr/>
        </p:nvSpPr>
        <p:spPr>
          <a:xfrm>
            <a:off x="841248" y="1371600"/>
            <a:ext cx="6766560" cy="941832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69848" y="1490472"/>
            <a:ext cx="6309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4142B"/>
                </a:solidFill>
                <a:latin typeface="Calibri"/>
              </a:rPr>
              <a:t>Galaxy voice assistant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63637E"/>
                </a:solidFill>
                <a:latin typeface="Calibri"/>
              </a:rPr>
              <a:t>"Turn on Wi-Fi calling and how do I stop apps draining battery" retrieved from device manuals while the user is still speaking.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841248" y="2450592"/>
            <a:ext cx="6766560" cy="941832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69848" y="2569464"/>
            <a:ext cx="6309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4142B"/>
                </a:solidFill>
                <a:latin typeface="Calibri"/>
              </a:rPr>
              <a:t>Enterprise help desks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63637E"/>
                </a:solidFill>
                <a:latin typeface="Calibri"/>
              </a:rPr>
              <a:t>HR, travel and IT policy questions with several asks per sentence, answered with citations auditors can check.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41248" y="3529584"/>
            <a:ext cx="6766560" cy="941832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69848" y="3648456"/>
            <a:ext cx="6309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4142B"/>
                </a:solidFill>
                <a:latin typeface="Calibri"/>
              </a:rPr>
              <a:t>In-car and hands-free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63637E"/>
                </a:solidFill>
                <a:latin typeface="Calibri"/>
              </a:rPr>
              <a:t>Drivers add details mid-request ("actually, the route via the highway"). The answer is patched, not restarted.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41248" y="4608576"/>
            <a:ext cx="6766560" cy="941832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69848" y="4727448"/>
            <a:ext cx="6309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4142B"/>
                </a:solidFill>
                <a:latin typeface="Calibri"/>
              </a:rPr>
              <a:t>Live agent assist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63637E"/>
                </a:solidFill>
                <a:latin typeface="Calibri"/>
              </a:rPr>
              <a:t>Surfaces cited policy snippets to a call-centre agent before the customer finishes the sentence.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001000" y="1371600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>
                <a:solidFill>
                  <a:srgbClr val="6D28D9"/>
                </a:solidFill>
                <a:latin typeface="Calibri"/>
              </a:rPr>
              <a:t>2.4 ms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63637E"/>
                </a:solidFill>
                <a:latin typeface="Calibri"/>
              </a:rPr>
              <a:t>time to first token after the user stops, even when each search takes 150 ms (batch RAG: 152 ms)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001000" y="2834640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>
                <a:solidFill>
                  <a:srgbClr val="6D28D9"/>
                </a:solidFill>
                <a:latin typeface="Calibri"/>
              </a:rPr>
              <a:t>+27 pts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63637E"/>
                </a:solidFill>
                <a:latin typeface="Calibri"/>
              </a:rPr>
              <a:t>answers that cite the right section, vs batch RAG (62.7% → 89.5%)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001000" y="4297680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>
                <a:solidFill>
                  <a:srgbClr val="6D28D9"/>
                </a:solidFill>
                <a:latin typeface="Calibri"/>
              </a:rPr>
              <a:t>$0 / turn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63637E"/>
                </a:solidFill>
                <a:latin typeface="Calibri"/>
              </a:rPr>
              <a:t>no LLM in the loop; 16 MB embedding model, CPU only, so it fits on device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841248" y="1325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704EA6"/>
                </a:solidFill>
                <a:latin typeface="Calibri"/>
              </a:rPr>
              <a:t>Innovation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41248" y="1737360"/>
            <a:ext cx="49377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  <a:buChar char="•"/>
            </a:pPr>
            <a:r>
              <a:rPr sz="1300" b="0">
                <a:solidFill>
                  <a:srgbClr val="14142B"/>
                </a:solidFill>
                <a:latin typeface="Calibri"/>
              </a:rPr>
              <a:t>Retrieval controller with dangling-phrase and corpus-IDF stability checks: early retrieval with 0% false triggers</a:t>
            </a:r>
          </a:p>
          <a:p>
            <a:pPr marL="201168" indent="-201168">
              <a:spcAft>
                <a:spcPts val="500"/>
              </a:spcAft>
              <a:buChar char="•"/>
            </a:pPr>
            <a:r>
              <a:rPr sz="1300" b="0">
                <a:solidFill>
                  <a:srgbClr val="14142B"/>
                </a:solidFill>
                <a:latin typeface="Calibri"/>
              </a:rPr>
              <a:t>Speculative retrieval reused only when it covers every final word (93–94% reuse)</a:t>
            </a:r>
          </a:p>
          <a:p>
            <a:pPr marL="201168" indent="-201168">
              <a:spcAft>
                <a:spcPts val="500"/>
              </a:spcAft>
              <a:buChar char="•"/>
            </a:pPr>
            <a:r>
              <a:rPr sz="1300" b="0">
                <a:solidFill>
                  <a:srgbClr val="14142B"/>
                </a:solidFill>
                <a:latin typeface="Calibri"/>
              </a:rPr>
              <a:t>Weak context propagation and entity-conditional scoping across sub-queries</a:t>
            </a:r>
          </a:p>
          <a:p>
            <a:pPr marL="201168" indent="-201168">
              <a:spcAft>
                <a:spcPts val="500"/>
              </a:spcAft>
              <a:buChar char="•"/>
            </a:pPr>
            <a:r>
              <a:rPr sz="1300" b="0">
                <a:solidFill>
                  <a:srgbClr val="14142B"/>
                </a:solidFill>
                <a:latin typeface="Calibri"/>
              </a:rPr>
              <a:t>Versioned answers: preserved, added and superseded claims, plus zero-query reformatting</a:t>
            </a:r>
          </a:p>
          <a:p>
            <a:pPr marL="201168" indent="-201168">
              <a:spcAft>
                <a:spcPts val="500"/>
              </a:spcAft>
              <a:buChar char="•"/>
            </a:pPr>
            <a:r>
              <a:rPr sz="1300" b="0">
                <a:solidFill>
                  <a:srgbClr val="14142B"/>
                </a:solidFill>
                <a:latin typeface="Calibri"/>
              </a:rPr>
              <a:t>Extractive grounding by construction, plus a verifier that keeps an optional LLM honest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41248" y="45262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704EA6"/>
                </a:solidFill>
                <a:latin typeface="Calibri"/>
              </a:rPr>
              <a:t>Limitations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41248" y="493776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400"/>
              </a:spcAft>
              <a:buChar char="•"/>
            </a:pPr>
            <a:r>
              <a:rPr sz="1300" b="0">
                <a:solidFill>
                  <a:srgbClr val="14142B"/>
                </a:solidFill>
                <a:latin typeface="Calibri"/>
              </a:rPr>
              <a:t>Synonym gaps ("cap" vs "limit") cause 4–6% false "unverified" flags</a:t>
            </a:r>
          </a:p>
          <a:p>
            <a:pPr marL="201168" indent="-201168">
              <a:spcAft>
                <a:spcPts val="400"/>
              </a:spcAft>
              <a:buChar char="•"/>
            </a:pPr>
            <a:r>
              <a:rPr sz="1300" b="0">
                <a:solidFill>
                  <a:srgbClr val="14142B"/>
                </a:solidFill>
                <a:latin typeface="Calibri"/>
              </a:rPr>
              <a:t>Multi-hop joins (city → tier → rate) are cited, not computed</a:t>
            </a:r>
          </a:p>
          <a:p>
            <a:pPr marL="201168" indent="-201168">
              <a:spcAft>
                <a:spcPts val="400"/>
              </a:spcAft>
              <a:buChar char="•"/>
            </a:pPr>
            <a:r>
              <a:rPr sz="1300" b="0">
                <a:solidFill>
                  <a:srgbClr val="14142B"/>
                </a:solidFill>
                <a:latin typeface="Calibri"/>
              </a:rPr>
              <a:t>Harder on real text: 72% evidence recall on the untuned 18F handbook</a:t>
            </a:r>
          </a:p>
        </p:txBody>
      </p:sp>
      <p:graphicFrame>
        <p:nvGraphicFramePr>
          <p:cNvPr id="142" name="Table 141"/>
          <p:cNvGraphicFramePr>
            <a:graphicFrameLocks noGrp="1"/>
          </p:cNvGraphicFramePr>
          <p:nvPr/>
        </p:nvGraphicFramePr>
        <p:xfrm>
          <a:off x="6172200" y="1371600"/>
          <a:ext cx="5166360" cy="386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777240"/>
                <a:gridCol w="914400"/>
                <a:gridCol w="96012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Gate (Theme 4)</a:t>
                      </a:r>
                    </a:p>
                  </a:txBody>
                  <a:tcPr marL="91440" marR="91440" marT="36576" marB="36576" anchor="ctr">
                    <a:solidFill>
                      <a:srgbClr val="704E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91440" marR="91440" marT="36576" marB="36576" anchor="ctr">
                    <a:solidFill>
                      <a:srgbClr val="704E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Test-1</a:t>
                      </a:r>
                    </a:p>
                  </a:txBody>
                  <a:tcPr marL="91440" marR="91440" marT="36576" marB="36576" anchor="ctr">
                    <a:solidFill>
                      <a:srgbClr val="704E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Clean test-2</a:t>
                      </a:r>
                    </a:p>
                  </a:txBody>
                  <a:tcPr marL="91440" marR="91440" marT="36576" marB="36576" anchor="ctr">
                    <a:solidFill>
                      <a:srgbClr val="704EA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G1 one-command run, unattended replay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G2 early retrieval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≥ 80%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G3 multi-intent identification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≥ 70%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G4 citation support / fabricated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≥ 85%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100% / 0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100% / 0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G5 refinement continuity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G6 telemetry coverage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Evidence recall (baseline 62.7%)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89.5%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95.8%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Key-fact recall (baseline 62.3%)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85.5%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  <a:latin typeface="Calibri"/>
                        </a:rPr>
                        <a:t>83.3%</a:t>
                      </a:r>
                    </a:p>
                  </a:txBody>
                  <a:tcPr marL="91440" marR="91440" marT="36576" marB="36576" anchor="ctr">
                    <a:solidFill>
                      <a:srgbClr val="F3F0FA"/>
                    </a:solidFill>
                  </a:tcPr>
                </a:tc>
              </a:tr>
            </a:tbl>
          </a:graphicData>
        </a:graphic>
      </p:graphicFrame>
      <p:sp>
        <p:nvSpPr>
          <p:cNvPr id="143" name="TextBox 142"/>
          <p:cNvSpPr txBox="1"/>
          <p:nvPr/>
        </p:nvSpPr>
        <p:spPr>
          <a:xfrm>
            <a:off x="6172200" y="5330952"/>
            <a:ext cx="5166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3637E"/>
                </a:solidFill>
                <a:latin typeface="Calibri"/>
              </a:rPr>
              <a:t>Test-2 was frozen before any error analysis and never used for tuning. Full report: reports/metrics.md.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841248" y="1371600"/>
            <a:ext cx="5117592" cy="132588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069848" y="1508760"/>
            <a:ext cx="466039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04EA6"/>
                </a:solidFill>
                <a:latin typeface="Calibri"/>
              </a:rPr>
              <a:t>On-device for Galaxy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42B"/>
                </a:solidFill>
                <a:latin typeface="Calibri"/>
              </a:rPr>
              <a:t>Port the controller and index to Android (ONNX / Kotlin); the 16 MB embedding model and ~1 ms decisions already fit a phone budget.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233160" y="1371600"/>
            <a:ext cx="5117592" cy="132588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461760" y="1508760"/>
            <a:ext cx="466039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04EA6"/>
                </a:solidFill>
                <a:latin typeface="Calibri"/>
              </a:rPr>
              <a:t>Audio-native endpointing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42B"/>
                </a:solidFill>
                <a:latin typeface="Calibri"/>
              </a:rPr>
              <a:t>Use VAD and prosody, not only transcript punctuation, to time retrieval and handle barge-in during the spoken answer.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41248" y="2852928"/>
            <a:ext cx="5117592" cy="132588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69848" y="2990088"/>
            <a:ext cx="466039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04EA6"/>
                </a:solidFill>
                <a:latin typeface="Calibri"/>
              </a:rPr>
              <a:t>Close the synonym gap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42B"/>
                </a:solidFill>
                <a:latin typeface="Calibri"/>
              </a:rPr>
              <a:t>A small cross-encoder, or the optional LLM, used only as a verifier when coverage is borderline (≈20–50 ms).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233160" y="2852928"/>
            <a:ext cx="5117592" cy="132588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61760" y="2990088"/>
            <a:ext cx="466039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04EA6"/>
                </a:solidFill>
                <a:latin typeface="Calibri"/>
              </a:rPr>
              <a:t>Learn the controller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42B"/>
                </a:solidFill>
                <a:latin typeface="Calibri"/>
              </a:rPr>
              <a:t>Train the wait/retrieve policy on logged traces to trade lead time against wasted queries per user population.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41248" y="4334256"/>
            <a:ext cx="5117592" cy="132588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69848" y="4471416"/>
            <a:ext cx="466039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04EA6"/>
                </a:solidFill>
                <a:latin typeface="Calibri"/>
              </a:rPr>
              <a:t>Multilingual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42B"/>
                </a:solidFill>
                <a:latin typeface="Calibri"/>
              </a:rPr>
              <a:t>Hindi, Korean and code-mixed speech with multilingual static embeddings and language-aware segmentation.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233160" y="4334256"/>
            <a:ext cx="5117592" cy="132588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461760" y="4471416"/>
            <a:ext cx="466039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04EA6"/>
                </a:solidFill>
                <a:latin typeface="Calibri"/>
              </a:rPr>
              <a:t>Salient entities on real corpora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42B"/>
                </a:solidFill>
                <a:latin typeface="Calibri"/>
              </a:rPr>
              <a:t>Filter link text and boilerplate before entities can scope a query (the main 18F failure mode).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Rounded Rectangle 149"/>
          <p:cNvSpPr/>
          <p:nvPr/>
        </p:nvSpPr>
        <p:spPr>
          <a:xfrm>
            <a:off x="841248" y="1371600"/>
            <a:ext cx="3320288" cy="205740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42416" y="1536192"/>
            <a:ext cx="291795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04EA6"/>
                </a:solidFill>
                <a:latin typeface="Calibri"/>
              </a:rPr>
              <a:t>Reproduces the guide, line by line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42B"/>
                </a:solidFill>
                <a:latin typeface="Calibri"/>
              </a:rPr>
              <a:t>All three worked examples in the Theme 4 guide replay as specified: provisional retrieval at 0.8 s, refinement without restart, reformatting with retrieval_required: false.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435856" y="1371600"/>
            <a:ext cx="3320288" cy="205740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637024" y="1536192"/>
            <a:ext cx="291795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04EA6"/>
                </a:solidFill>
                <a:latin typeface="Calibri"/>
              </a:rPr>
              <a:t>Honest measurement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42B"/>
                </a:solidFill>
                <a:latin typeface="Calibri"/>
              </a:rPr>
              <a:t>Frozen splits with SHA-256 hashes, a clean test-2, a real untuned corpus, the first pre-analysis run kept, and every failure listed.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030464" y="1371600"/>
            <a:ext cx="3320288" cy="205740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8231632" y="1536192"/>
            <a:ext cx="291795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04EA6"/>
                </a:solidFill>
                <a:latin typeface="Calibri"/>
              </a:rPr>
              <a:t>Nothing hard-coded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42B"/>
                </a:solidFill>
                <a:latin typeface="Calibri"/>
              </a:rPr>
              <a:t>Entities, scopes, aspects and capacity words are mined from the corpus; the same code runs on the 18F handbook.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41248" y="3611880"/>
            <a:ext cx="3320288" cy="205740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042416" y="3776472"/>
            <a:ext cx="291795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04EA6"/>
                </a:solidFill>
                <a:latin typeface="Calibri"/>
              </a:rPr>
              <a:t>Latency hiding, quantified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42B"/>
                </a:solidFill>
                <a:latin typeface="Calibri"/>
              </a:rPr>
              <a:t>With a 150 ms retrieval stack, Kairos starts answering in 2.4 ms against 152 ms for batch RAG (replayed traces).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435856" y="3611880"/>
            <a:ext cx="3320288" cy="205740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4637024" y="3776472"/>
            <a:ext cx="291795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04EA6"/>
                </a:solidFill>
                <a:latin typeface="Calibri"/>
              </a:rPr>
              <a:t>Zero-cost by default, LLM-ready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42B"/>
                </a:solidFill>
                <a:latin typeface="Calibri"/>
              </a:rPr>
              <a:t>CPU only, $0 per turn; an optional LLM is wrapped in a verifier that drops fabricated citations (tested).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030464" y="3611880"/>
            <a:ext cx="3320288" cy="2057400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231632" y="3776472"/>
            <a:ext cx="291795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04EA6"/>
                </a:solidFill>
                <a:latin typeface="Calibri"/>
              </a:rPr>
              <a:t>Production hygiene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42B"/>
                </a:solidFill>
                <a:latin typeface="Calibri"/>
              </a:rPr>
              <a:t>One-command Docker, CI building the image and running the replay suite, schema-validated traces, 16 tests.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GitHub repo: Y (github.com/CodeThread386/kairos-streaming-rag)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instructions: Y (one-command Docker run, local steps, API and CLI examples)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minutes: Y (demo/kairos_demo.mp4, 3 min 30 s, in the tagged commit)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PDF): Y (presentation/VITV_Kairos_Submission.pptx + .pdf)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AI disclosure: Y (docs/AI_DISCLOSURE.md + filled LangAI3.0 form)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requirements.txt, Dockerfile, docker-compose.yml, tests, benchmark report: Y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Release tag PRISM_GENAI_HACKATHON_Y2026 on the final commit: Y</a:t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
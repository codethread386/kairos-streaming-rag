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7" roundtripDataSignature="AMtx7mgQuomGbdS/wh2yqkB/K4YAZ70YA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" name="Google Shape;87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9" name="Google Shape;159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Closing slide. Add the Google Form URL and a contact email before sharing. Edition 2 organising team for reference: Language AI - Sourabh Tiwari, Gaurav, Sanjeeth Pothireddy, Gorang Maniar; PRISM - Binny Lakra, Prakhar Chandrakar, Vishu Kumar; Kick-off and mentors - Giridhar Jakki, Deepraj Prabhakar Patkar (Language AI), Srimanu Prasad Nagaraju, Ashish Kumar (Tech Strategy).</a:t>
            </a:r>
            <a:endParaRPr/>
          </a:p>
        </p:txBody>
      </p:sp>
      <p:sp>
        <p:nvSpPr>
          <p:cNvPr id="160" name="Google Shape;160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1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" name="Google Shape;19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6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16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5" name="Google Shape;25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7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17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1" name="Google Shape;31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18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18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9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9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4" name="Google Shape;44;p19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5" name="Google Shape;45;p19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6" name="Google Shape;46;p19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7" name="Google Shape;47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2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2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2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22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2" name="Google Shape;62;p22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3" name="Google Shape;63;p2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2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2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3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23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9" name="Google Shape;69;p23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70" name="Google Shape;70;p2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24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6" name="Google Shape;76;p2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2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5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25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2" name="Google Shape;82;p2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2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4" name="Google Shape;84;p2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"/>
          <p:cNvSpPr/>
          <p:nvPr/>
        </p:nvSpPr>
        <p:spPr>
          <a:xfrm>
            <a:off x="777240" y="676656"/>
            <a:ext cx="2423160" cy="347472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2700">
            <a:solidFill>
              <a:srgbClr val="D9D3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1"/>
          <p:cNvSpPr txBox="1"/>
          <p:nvPr/>
        </p:nvSpPr>
        <p:spPr>
          <a:xfrm>
            <a:off x="777240" y="676656"/>
            <a:ext cx="24231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SAMSUNG PRISM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777240" y="1207008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5000"/>
              <a:buFont typeface="Arial"/>
              <a:buNone/>
            </a:pPr>
            <a:r>
              <a:rPr b="1" i="0" lang="en-US" sz="50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Generative AI</a:t>
            </a:r>
            <a:endParaRPr b="0" i="0" sz="5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777240" y="1901952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5000"/>
              <a:buFont typeface="Arial"/>
              <a:buNone/>
            </a:pPr>
            <a:r>
              <a:rPr b="1" i="0" lang="en-US" sz="5000" u="none" cap="none" strike="noStrik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Hackathon</a:t>
            </a:r>
            <a:endParaRPr b="0" i="0" sz="5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"/>
          <p:cNvSpPr txBox="1"/>
          <p:nvPr/>
        </p:nvSpPr>
        <p:spPr>
          <a:xfrm>
            <a:off x="777240" y="2724912"/>
            <a:ext cx="6126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3rd Edition</a:t>
            </a:r>
            <a:r>
              <a:rPr b="0" i="0" lang="en-US" sz="20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   2026 – 27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"/>
          <p:cNvSpPr txBox="1"/>
          <p:nvPr/>
        </p:nvSpPr>
        <p:spPr>
          <a:xfrm>
            <a:off x="777240" y="3310128"/>
            <a:ext cx="5852160" cy="1709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Theme ID - 04 · Streaming Live RAG</a:t>
            </a:r>
            <a:endParaRPr/>
          </a:p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Project - Kairos: streaming live RAG that retrieves while you speak</a:t>
            </a:r>
            <a:endParaRPr/>
          </a:p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Team Name - VITV_Kairos_4</a:t>
            </a:r>
            <a:endParaRPr/>
          </a:p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College Name - VIT Vellore (VITV)</a:t>
            </a:r>
            <a:endParaRPr/>
          </a:p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1- Sarthak Trivedi, sarthak.trivedi2024@vitstudent.ac.in</a:t>
            </a:r>
            <a:endParaRPr/>
          </a:p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6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Submission Github link - github.com/CodeThread386/kairos-streaming-rag (tag PRISM_GENAI_HACKATHON_Y2026)</a:t>
            </a:r>
            <a:endParaRPr/>
          </a:p>
        </p:txBody>
      </p:sp>
      <p:pic>
        <p:nvPicPr>
          <p:cNvPr descr="hero_network.png" id="96" name="Google Shape;96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59168" y="1051560"/>
            <a:ext cx="4572000" cy="4572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Theme</a:t>
            </a:r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841248" y="1417320"/>
            <a:ext cx="6583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04EA6"/>
                </a:solidFill>
                <a:latin typeface="Calibri"/>
              </a:rPr>
              <a:t>Theme 04, Streaming Live RAG: </a:t>
            </a:r>
            <a:r>
              <a:rPr sz="1800" b="0">
                <a:solidFill>
                  <a:srgbClr val="14142B"/>
                </a:solidFill>
                <a:latin typeface="Calibri"/>
              </a:rPr>
              <a:t>in a full-duplex voice conversation, retrieve the right context mid-conversation from one natural command.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841248" y="2423160"/>
            <a:ext cx="6583680" cy="932688"/>
          </a:xfrm>
          <a:prstGeom prst="roundRect">
            <a:avLst>
              <a:gd name="adj" fmla="val 8000"/>
            </a:avLst>
          </a:prstGeom>
          <a:solidFill>
            <a:srgbClr val="F3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1069848" y="2551176"/>
            <a:ext cx="6126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>
                <a:solidFill>
                  <a:srgbClr val="14142B"/>
                </a:solidFill>
                <a:latin typeface="Calibri"/>
              </a:rPr>
              <a:t>It waits for silence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63637E"/>
                </a:solidFill>
                <a:latin typeface="Calibri"/>
              </a:rPr>
              <a:t>Batch RAG does nothing while the user speaks, then pays the whole retrieval round trip after they stop.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841248" y="3502152"/>
            <a:ext cx="6583680" cy="932688"/>
          </a:xfrm>
          <a:prstGeom prst="roundRect">
            <a:avLst>
              <a:gd name="adj" fmla="val 8000"/>
            </a:avLst>
          </a:prstGeom>
          <a:solidFill>
            <a:srgbClr val="F3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1069848" y="3630168"/>
            <a:ext cx="6126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>
                <a:solidFill>
                  <a:srgbClr val="14142B"/>
                </a:solidFill>
                <a:latin typeface="Calibri"/>
              </a:rPr>
              <a:t>One query for many asks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63637E"/>
                </a:solidFill>
                <a:latin typeface="Calibri"/>
              </a:rPr>
              <a:t>"Venues for 30 in Pune, the cancellation policy and the catering options" is three questions. One embedding blurs them.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841248" y="4581144"/>
            <a:ext cx="6583680" cy="932688"/>
          </a:xfrm>
          <a:prstGeom prst="roundRect">
            <a:avLst>
              <a:gd name="adj" fmla="val 8000"/>
            </a:avLst>
          </a:prstGeom>
          <a:solidFill>
            <a:srgbClr val="F3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069848" y="4709160"/>
            <a:ext cx="6126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1">
                <a:solidFill>
                  <a:srgbClr val="14142B"/>
                </a:solidFill>
                <a:latin typeface="Calibri"/>
              </a:rPr>
              <a:t>Late details restart it</a:t>
            </a:r>
          </a:p>
          <a:p>
            <a:pPr algn="l">
              <a:lnSpc>
                <a:spcPct val="100000"/>
              </a:lnSpc>
            </a:pPr>
            <a:r>
              <a:rPr sz="1400" b="0">
                <a:solidFill>
                  <a:srgbClr val="63637E"/>
                </a:solidFill>
                <a:latin typeface="Calibri"/>
              </a:rPr>
              <a:t>"Actually, the trip was international." Restarting discards evidence, costs another full search and loses citations.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7772400" y="146304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04EA6"/>
                </a:solidFill>
                <a:latin typeface="Calibri"/>
              </a:rPr>
              <a:t>What we committed to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772400" y="2011680"/>
            <a:ext cx="365760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spcAft>
                <a:spcPts val="800"/>
              </a:spcAft>
              <a:buChar char="•"/>
            </a:pPr>
            <a:r>
              <a:rPr sz="1500" b="1">
                <a:solidFill>
                  <a:srgbClr val="14142B"/>
                </a:solidFill>
                <a:latin typeface="Calibri"/>
              </a:rPr>
              <a:t>Listen incrementally: </a:t>
            </a:r>
            <a:r>
              <a:rPr sz="1500" b="0">
                <a:solidFill>
                  <a:srgbClr val="14142B"/>
                </a:solidFill>
                <a:latin typeface="Calibri"/>
              </a:rPr>
              <a:t>decide on every chunk whether to wait, retrieve or skip</a:t>
            </a:r>
          </a:p>
          <a:p>
            <a:pPr marL="201168" indent="-201168">
              <a:spcAft>
                <a:spcPts val="800"/>
              </a:spcAft>
              <a:buChar char="•"/>
            </a:pPr>
            <a:r>
              <a:rPr sz="1500" b="1">
                <a:solidFill>
                  <a:srgbClr val="14142B"/>
                </a:solidFill>
                <a:latin typeface="Calibri"/>
              </a:rPr>
              <a:t>Decompose </a:t>
            </a:r>
            <a:r>
              <a:rPr sz="1500" b="0">
                <a:solidFill>
                  <a:srgbClr val="14142B"/>
                </a:solidFill>
                <a:latin typeface="Calibri"/>
              </a:rPr>
              <a:t>one utterance into the questions it actually implies</a:t>
            </a:r>
          </a:p>
          <a:p>
            <a:pPr marL="201168" indent="-201168">
              <a:spcAft>
                <a:spcPts val="800"/>
              </a:spcAft>
              <a:buChar char="•"/>
            </a:pPr>
            <a:r>
              <a:rPr sz="1500" b="1">
                <a:solidFill>
                  <a:srgbClr val="14142B"/>
                </a:solidFill>
                <a:latin typeface="Calibri"/>
              </a:rPr>
              <a:t>Refine, never restart, </a:t>
            </a:r>
            <a:r>
              <a:rPr sz="1500" b="0">
                <a:solidFill>
                  <a:srgbClr val="14142B"/>
                </a:solidFill>
                <a:latin typeface="Calibri"/>
              </a:rPr>
              <a:t>when a constraint arrives late</a:t>
            </a:r>
          </a:p>
          <a:p>
            <a:pPr marL="201168" indent="-201168">
              <a:spcAft>
                <a:spcPts val="800"/>
              </a:spcAft>
              <a:buChar char="•"/>
            </a:pPr>
            <a:r>
              <a:rPr sz="1500" b="1">
                <a:solidFill>
                  <a:srgbClr val="14142B"/>
                </a:solidFill>
                <a:latin typeface="Calibri"/>
              </a:rPr>
              <a:t>Ground every claim </a:t>
            </a:r>
            <a:r>
              <a:rPr sz="1500" b="0">
                <a:solidFill>
                  <a:srgbClr val="14142B"/>
                </a:solidFill>
                <a:latin typeface="Calibri"/>
              </a:rPr>
              <a:t>in a cited section, or say it is unverified</a:t>
            </a:r>
          </a:p>
          <a:p>
            <a:pPr marL="201168" indent="-201168">
              <a:spcAft>
                <a:spcPts val="800"/>
              </a:spcAft>
              <a:buChar char="•"/>
            </a:pPr>
            <a:r>
              <a:rPr sz="1500" b="1">
                <a:solidFill>
                  <a:srgbClr val="14142B"/>
                </a:solidFill>
                <a:latin typeface="Calibri"/>
              </a:rPr>
              <a:t>Prove it: </a:t>
            </a:r>
            <a:r>
              <a:rPr sz="1500" b="0">
                <a:solidFill>
                  <a:srgbClr val="14142B"/>
                </a:solidFill>
                <a:latin typeface="Calibri"/>
              </a:rPr>
              <a:t>measure all six acceptance gates G1–G6 on held-out streams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Existing Solutions &amp; Gaps</a:t>
            </a:r>
            <a:endParaRPr/>
          </a:p>
        </p:txBody>
      </p:sp>
      <p:graphicFrame>
        <p:nvGraphicFramePr>
          <p:cNvPr id="108" name="Table 107"/>
          <p:cNvGraphicFramePr>
            <a:graphicFrameLocks noGrp="1"/>
          </p:cNvGraphicFramePr>
          <p:nvPr/>
        </p:nvGraphicFramePr>
        <p:xfrm>
          <a:off x="841248" y="1508760"/>
          <a:ext cx="10509504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3657600"/>
                <a:gridCol w="4017264"/>
              </a:tblGrid>
              <a:tr h="71323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Approach</a:t>
                      </a:r>
                    </a:p>
                  </a:txBody>
                  <a:tcPr marL="91440" marR="91440" marT="36576" marB="36576" anchor="ctr">
                    <a:solidFill>
                      <a:srgbClr val="704EA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How it works</a:t>
                      </a:r>
                    </a:p>
                  </a:txBody>
                  <a:tcPr marL="91440" marR="91440" marT="36576" marB="36576" anchor="ctr">
                    <a:solidFill>
                      <a:srgbClr val="704EA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Gap for live voice</a:t>
                      </a:r>
                    </a:p>
                  </a:txBody>
                  <a:tcPr marL="91440" marR="91440" marT="36576" marB="36576" anchor="ctr">
                    <a:solidFill>
                      <a:srgbClr val="704EA6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142B"/>
                          </a:solidFill>
                          <a:latin typeface="Calibri"/>
                        </a:rPr>
                        <a:t>Batch RAG (default chains in common RAG frameworks)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142B"/>
                          </a:solidFill>
                          <a:latin typeface="Calibri"/>
                        </a:rPr>
                        <a:t>Waits for end of utterance, embeds it as one query, retrieves top-k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142B"/>
                          </a:solidFill>
                          <a:latin typeface="Calibri"/>
                        </a:rPr>
                        <a:t>Retrieval starts only after the user stops; compound requests become one blurred query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142B"/>
                          </a:solidFill>
                          <a:latin typeface="Calibri"/>
                        </a:rPr>
                        <a:t>LLM query rewriting / multi-query retrieval</a:t>
                      </a:r>
                    </a:p>
                  </a:txBody>
                  <a:tcPr marL="91440" marR="91440" marT="36576" marB="36576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142B"/>
                          </a:solidFill>
                          <a:latin typeface="Calibri"/>
                        </a:rPr>
                        <a:t>An LLM rewrites or splits the question before searching</a:t>
                      </a:r>
                    </a:p>
                  </a:txBody>
                  <a:tcPr marL="91440" marR="91440" marT="36576" marB="36576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142B"/>
                          </a:solidFill>
                          <a:latin typeface="Calibri"/>
                        </a:rPr>
                        <a:t>Adds an LLM round trip and cost per turn, still after the utterance ends</a:t>
                      </a:r>
                    </a:p>
                  </a:txBody>
                  <a:tcPr marL="91440" marR="91440" marT="36576" marB="36576" anchor="ctr">
                    <a:solidFill>
                      <a:srgbClr val="F3F0FA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142B"/>
                          </a:solidFill>
                          <a:latin typeface="Calibri"/>
                        </a:rPr>
                        <a:t>Realtime speech LLM APIs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142B"/>
                          </a:solidFill>
                          <a:latin typeface="Calibri"/>
                        </a:rPr>
                        <a:t>Stream audio in and out with low latency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142B"/>
                          </a:solidFill>
                          <a:latin typeface="Calibri"/>
                        </a:rPr>
                        <a:t>Tool or retrieval calls fire after the turn; grounding and citations are left to the app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142B"/>
                          </a:solidFill>
                          <a:latin typeface="Calibri"/>
                        </a:rPr>
                        <a:t>Conversational RAG with history</a:t>
                      </a:r>
                    </a:p>
                  </a:txBody>
                  <a:tcPr marL="91440" marR="91440" marT="36576" marB="36576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142B"/>
                          </a:solidFill>
                          <a:latin typeface="Calibri"/>
                        </a:rPr>
                        <a:t>Condenses chat history into a standalone query each turn</a:t>
                      </a:r>
                    </a:p>
                  </a:txBody>
                  <a:tcPr marL="91440" marR="91440" marT="36576" marB="36576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4142B"/>
                          </a:solidFill>
                          <a:latin typeface="Calibri"/>
                        </a:rPr>
                        <a:t>A late detail triggers a full new search; earlier evidence and citations are not carried forward</a:t>
                      </a:r>
                    </a:p>
                  </a:txBody>
                  <a:tcPr marL="91440" marR="91440" marT="36576" marB="36576" anchor="ctr">
                    <a:solidFill>
                      <a:srgbClr val="F3F0FA"/>
                    </a:solidFill>
                  </a:tcPr>
                </a:tc>
              </a:tr>
            </a:tbl>
          </a:graphicData>
        </a:graphic>
      </p:graphicFrame>
      <p:sp>
        <p:nvSpPr>
          <p:cNvPr id="109" name="Rounded Rectangle 108"/>
          <p:cNvSpPr/>
          <p:nvPr/>
        </p:nvSpPr>
        <p:spPr>
          <a:xfrm>
            <a:off x="841248" y="5257800"/>
            <a:ext cx="10509504" cy="713232"/>
          </a:xfrm>
          <a:prstGeom prst="roundRect">
            <a:avLst>
              <a:gd name="adj" fmla="val 8000"/>
            </a:avLst>
          </a:prstGeom>
          <a:solidFill>
            <a:srgbClr val="F3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1115568" y="5349240"/>
            <a:ext cx="9960864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704EA6"/>
                </a:solidFill>
                <a:latin typeface="Calibri"/>
              </a:rPr>
              <a:t>The gap: </a:t>
            </a:r>
            <a:r>
              <a:rPr sz="1500" b="0">
                <a:solidFill>
                  <a:srgbClr val="14142B"/>
                </a:solidFill>
                <a:latin typeface="Calibri"/>
              </a:rPr>
              <a:t>nothing decides when to retrieve while the user is still talking, splits the request cheaply, and patches a cited answer instead of restarting. Kairos does all three on a CPU, with no LLM in the loop.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"/>
          <p:cNvSpPr txBox="1"/>
          <p:nvPr>
            <p:ph type="title"/>
          </p:nvPr>
        </p:nvSpPr>
        <p:spPr>
          <a:xfrm>
            <a:off x="909917" y="266513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Our Solutions &amp; Architecture Diagram</a:t>
            </a:r>
            <a:endParaRPr/>
          </a:p>
        </p:txBody>
      </p:sp>
      <p:pic>
        <p:nvPicPr>
          <p:cNvPr id="114" name="Picture 113" descr="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6240" y="1280160"/>
            <a:ext cx="8859520" cy="4983480"/>
          </a:xfrm>
          <a:prstGeom prst="rect">
            <a:avLst/>
          </a:prstGeom>
        </p:spPr>
      </p:pic>
      <p:sp>
        <p:nvSpPr>
          <p:cNvPr id="115" name="TextBox 114"/>
          <p:cNvSpPr txBox="1"/>
          <p:nvPr/>
        </p:nvSpPr>
        <p:spPr>
          <a:xfrm>
            <a:off x="841248" y="6355080"/>
            <a:ext cx="105095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63637E"/>
                </a:solidFill>
                <a:latin typeface="Calibri"/>
              </a:rPr>
              <a:t>Controller ≈ 1 ms per chunk · retrieval ≈ 0.6 ms per query · answer starts ≈ 2 ms after the user stops · 0 LLM calls by default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Demo &amp; Product Walkthrough</a:t>
            </a:r>
            <a:endParaRPr/>
          </a:p>
        </p:txBody>
      </p:sp>
      <p:pic>
        <p:nvPicPr>
          <p:cNvPr id="120" name="Picture 119" descr="ui_worksh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1325880"/>
            <a:ext cx="5117592" cy="2665412"/>
          </a:xfrm>
          <a:prstGeom prst="rect">
            <a:avLst/>
          </a:prstGeom>
          <a:ln>
            <a:solidFill>
              <a:srgbClr val="DDD8EA"/>
            </a:solidFill>
          </a:ln>
        </p:spPr>
      </p:pic>
      <p:sp>
        <p:nvSpPr>
          <p:cNvPr id="121" name="TextBox 120"/>
          <p:cNvSpPr txBox="1"/>
          <p:nvPr/>
        </p:nvSpPr>
        <p:spPr>
          <a:xfrm>
            <a:off x="841248" y="4064444"/>
            <a:ext cx="51175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3637E"/>
                </a:solidFill>
                <a:latin typeface="Calibri"/>
              </a:rPr>
              <a:t>Three questions in one breath: retrievals fire 6.4 s before the speaker stops; answer starts 14 ms after.</a:t>
            </a:r>
          </a:p>
        </p:txBody>
      </p:sp>
      <p:pic>
        <p:nvPicPr>
          <p:cNvPr id="122" name="Picture 121" descr="ui_ref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3160" y="1325880"/>
            <a:ext cx="5117592" cy="2478834"/>
          </a:xfrm>
          <a:prstGeom prst="rect">
            <a:avLst/>
          </a:prstGeom>
          <a:ln>
            <a:solidFill>
              <a:srgbClr val="DDD8EA"/>
            </a:solidFill>
          </a:ln>
        </p:spPr>
      </p:pic>
      <p:sp>
        <p:nvSpPr>
          <p:cNvPr id="123" name="TextBox 122"/>
          <p:cNvSpPr txBox="1"/>
          <p:nvPr/>
        </p:nvSpPr>
        <p:spPr>
          <a:xfrm>
            <a:off x="6233160" y="3877866"/>
            <a:ext cx="51175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3637E"/>
                </a:solidFill>
                <a:latin typeface="Calibri"/>
              </a:rPr>
              <a:t>Late detail "international, booked after travel": only the new details are searched; v2 keeps v1's citations.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841248" y="4800600"/>
            <a:ext cx="2421636" cy="1234440"/>
          </a:xfrm>
          <a:prstGeom prst="roundRect">
            <a:avLst>
              <a:gd name="adj" fmla="val 8000"/>
            </a:avLst>
          </a:prstGeom>
          <a:solidFill>
            <a:srgbClr val="F3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1005840" y="4910328"/>
            <a:ext cx="2092452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>
                <a:solidFill>
                  <a:srgbClr val="704EA6"/>
                </a:solidFill>
                <a:latin typeface="Calibri"/>
              </a:rPr>
              <a:t>Speech timeline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4142B"/>
                </a:solidFill>
                <a:latin typeface="Calibri"/>
              </a:rPr>
              <a:t>Words as spoken; blue markers are retrievals fired before the amber "you stopped" line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3537204" y="4800600"/>
            <a:ext cx="2421636" cy="1234440"/>
          </a:xfrm>
          <a:prstGeom prst="roundRect">
            <a:avLst>
              <a:gd name="adj" fmla="val 8000"/>
            </a:avLst>
          </a:prstGeom>
          <a:solidFill>
            <a:srgbClr val="F3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3701796" y="4910328"/>
            <a:ext cx="2092452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>
                <a:solidFill>
                  <a:srgbClr val="704EA6"/>
                </a:solidFill>
                <a:latin typeface="Calibri"/>
              </a:rPr>
              <a:t>Controller log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4142B"/>
                </a:solidFill>
                <a:latin typeface="Calibri"/>
              </a:rPr>
              <a:t>Every WAIT / RETRIEVE / SUPPRESS decision with its reason and each sub-query's hits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6233160" y="4800600"/>
            <a:ext cx="2421636" cy="1234440"/>
          </a:xfrm>
          <a:prstGeom prst="roundRect">
            <a:avLst>
              <a:gd name="adj" fmla="val 8000"/>
            </a:avLst>
          </a:prstGeom>
          <a:solidFill>
            <a:srgbClr val="F3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397752" y="4910328"/>
            <a:ext cx="2092452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>
                <a:solidFill>
                  <a:srgbClr val="704EA6"/>
                </a:solidFill>
                <a:latin typeface="Calibri"/>
              </a:rPr>
              <a:t>Versioned, cited answer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4142B"/>
                </a:solidFill>
                <a:latin typeface="Calibri"/>
              </a:rPr>
              <a:t>Citation chips open the source sentence; v2 lists kept, added and replaced claims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8929116" y="4800600"/>
            <a:ext cx="2421636" cy="1234440"/>
          </a:xfrm>
          <a:prstGeom prst="roundRect">
            <a:avLst>
              <a:gd name="adj" fmla="val 8000"/>
            </a:avLst>
          </a:prstGeom>
          <a:solidFill>
            <a:srgbClr val="F3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9093708" y="4910328"/>
            <a:ext cx="2092452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>
                <a:solidFill>
                  <a:srgbClr val="704EA6"/>
                </a:solidFill>
                <a:latin typeface="Calibri"/>
              </a:rPr>
              <a:t>Live telemetry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14142B"/>
                </a:solidFill>
                <a:latin typeface="Calibri"/>
              </a:rPr>
              <a:t>Time to first token, retrieval lead, queries fired and used, reuse, cost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841248" y="6144768"/>
            <a:ext cx="105095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63637E"/>
                </a:solidFill>
                <a:latin typeface="Calibri"/>
              </a:rPr>
              <a:t>Demo video (3:30): </a:t>
            </a:r>
            <a:r>
              <a:rPr sz="1200" b="0">
                <a:solidFill>
                  <a:srgbClr val="63637E"/>
                </a:solidFill>
                <a:latin typeface="Calibri"/>
              </a:rPr>
              <a:t>demo/kairos_demo.mp4 in the repository; YouTube link in the README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Tools and tech stack used</a:t>
            </a:r>
            <a:endParaRPr b="1">
              <a:solidFill>
                <a:srgbClr val="704EA6"/>
              </a:solidFill>
            </a:endParaRPr>
          </a:p>
        </p:txBody>
      </p:sp>
      <p:sp>
        <p:nvSpPr>
          <p:cNvPr id="126" name="Rounded Rectangle 125"/>
          <p:cNvSpPr/>
          <p:nvPr/>
        </p:nvSpPr>
        <p:spPr>
          <a:xfrm>
            <a:off x="841248" y="1371600"/>
            <a:ext cx="5117592" cy="1005840"/>
          </a:xfrm>
          <a:prstGeom prst="roundRect">
            <a:avLst>
              <a:gd name="adj" fmla="val 8000"/>
            </a:avLst>
          </a:prstGeom>
          <a:solidFill>
            <a:srgbClr val="F3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1042416" y="1490472"/>
            <a:ext cx="471525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704EA6"/>
                </a:solidFill>
                <a:latin typeface="Calibri"/>
              </a:rPr>
              <a:t>Streaming core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4142B"/>
                </a:solidFill>
                <a:latin typeface="Calibri"/>
              </a:rPr>
              <a:t>Python 3.12 · asyncio · FastAPI + WebSocket · Uvicorn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6233160" y="1371600"/>
            <a:ext cx="5117592" cy="1005840"/>
          </a:xfrm>
          <a:prstGeom prst="roundRect">
            <a:avLst>
              <a:gd name="adj" fmla="val 8000"/>
            </a:avLst>
          </a:prstGeom>
          <a:solidFill>
            <a:srgbClr val="F3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434328" y="1490472"/>
            <a:ext cx="471525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704EA6"/>
                </a:solidFill>
                <a:latin typeface="Calibri"/>
              </a:rPr>
              <a:t>Retrieval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4142B"/>
                </a:solidFill>
                <a:latin typeface="Calibri"/>
              </a:rPr>
              <a:t>BM25 (own implementation) · WordLlama 256-d static embeddings (CPU, ships in the wheel) · reciprocal-rank fusion · NumPy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841248" y="2514600"/>
            <a:ext cx="5117592" cy="1005840"/>
          </a:xfrm>
          <a:prstGeom prst="roundRect">
            <a:avLst>
              <a:gd name="adj" fmla="val 8000"/>
            </a:avLst>
          </a:prstGeom>
          <a:solidFill>
            <a:srgbClr val="F3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1042416" y="2633472"/>
            <a:ext cx="471525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704EA6"/>
                </a:solidFill>
                <a:latin typeface="Calibri"/>
              </a:rPr>
              <a:t>Language processing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4142B"/>
                </a:solidFill>
                <a:latin typeface="Calibri"/>
              </a:rPr>
              <a:t>Snowball stemmer · corpus-derived lexicons (IDF, entities, scopes, aspects) · rule-based self-repair and clause segmentation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6233160" y="2514600"/>
            <a:ext cx="5117592" cy="1005840"/>
          </a:xfrm>
          <a:prstGeom prst="roundRect">
            <a:avLst>
              <a:gd name="adj" fmla="val 8000"/>
            </a:avLst>
          </a:prstGeom>
          <a:solidFill>
            <a:srgbClr val="F3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6434328" y="2633472"/>
            <a:ext cx="471525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704EA6"/>
                </a:solidFill>
                <a:latin typeface="Calibri"/>
              </a:rPr>
              <a:t>Ingestion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4142B"/>
                </a:solidFill>
                <a:latin typeface="Calibri"/>
              </a:rPr>
              <a:t>Markdown / HTML / TXT / JSON parsers · pypdf · python-docx → section chunks with Doc_ID §N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841248" y="3657600"/>
            <a:ext cx="5117592" cy="1005840"/>
          </a:xfrm>
          <a:prstGeom prst="roundRect">
            <a:avLst>
              <a:gd name="adj" fmla="val 8000"/>
            </a:avLst>
          </a:prstGeom>
          <a:solidFill>
            <a:srgbClr val="F3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1042416" y="3776472"/>
            <a:ext cx="471525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704EA6"/>
                </a:solidFill>
                <a:latin typeface="Calibri"/>
              </a:rPr>
              <a:t>Interface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4142B"/>
                </a:solidFill>
                <a:latin typeface="Calibri"/>
              </a:rPr>
              <a:t>Single-page console (HTML + JS) · Web Speech API for live mic input · typed input streamed word by word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6233160" y="3657600"/>
            <a:ext cx="5117592" cy="1005840"/>
          </a:xfrm>
          <a:prstGeom prst="roundRect">
            <a:avLst>
              <a:gd name="adj" fmla="val 8000"/>
            </a:avLst>
          </a:prstGeom>
          <a:solidFill>
            <a:srgbClr val="F3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434328" y="3776472"/>
            <a:ext cx="471525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704EA6"/>
                </a:solidFill>
                <a:latin typeface="Calibri"/>
              </a:rPr>
              <a:t>Quality &amp; ops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4142B"/>
                </a:solidFill>
                <a:latin typeface="Calibri"/>
              </a:rPr>
              <a:t>pytest (16 tests) · jsonschema telemetry validation · replay benchmark harness · Docker + compose · GitHub Actions CI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841248" y="4800600"/>
            <a:ext cx="5117592" cy="1005840"/>
          </a:xfrm>
          <a:prstGeom prst="roundRect">
            <a:avLst>
              <a:gd name="adj" fmla="val 8000"/>
            </a:avLst>
          </a:prstGeom>
          <a:solidFill>
            <a:srgbClr val="F3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1042416" y="4919472"/>
            <a:ext cx="471525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704EA6"/>
                </a:solidFill>
                <a:latin typeface="Calibri"/>
              </a:rPr>
              <a:t>Optional LLM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4142B"/>
                </a:solidFill>
                <a:latin typeface="Calibri"/>
              </a:rPr>
              <a:t>Any OpenAI-compatible endpoint (Ollama, vLLM, OpenAI, Gemini, Groq) with a sentence-level grounding verifier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6233160" y="4800600"/>
            <a:ext cx="5117592" cy="1005840"/>
          </a:xfrm>
          <a:prstGeom prst="roundRect">
            <a:avLst>
              <a:gd name="adj" fmla="val 8000"/>
            </a:avLst>
          </a:prstGeom>
          <a:solidFill>
            <a:srgbClr val="F3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434328" y="4919472"/>
            <a:ext cx="471525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704EA6"/>
                </a:solidFill>
                <a:latin typeface="Calibri"/>
              </a:rPr>
              <a:t>Demo production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4142B"/>
                </a:solidFill>
                <a:latin typeface="Calibri"/>
              </a:rPr>
              <a:t>Playwright (scripted UI recording) · Kokoro-82M TTS via sherpa-onnx (offline narration) · ffmpeg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Impact &amp; Use case</a:t>
            </a:r>
            <a:endParaRPr b="1">
              <a:solidFill>
                <a:srgbClr val="704EA6"/>
              </a:solidFill>
            </a:endParaRPr>
          </a:p>
        </p:txBody>
      </p:sp>
      <p:sp>
        <p:nvSpPr>
          <p:cNvPr id="132" name="Rounded Rectangle 131"/>
          <p:cNvSpPr/>
          <p:nvPr/>
        </p:nvSpPr>
        <p:spPr>
          <a:xfrm>
            <a:off x="841248" y="1371600"/>
            <a:ext cx="6766560" cy="941832"/>
          </a:xfrm>
          <a:prstGeom prst="roundRect">
            <a:avLst>
              <a:gd name="adj" fmla="val 8000"/>
            </a:avLst>
          </a:prstGeom>
          <a:solidFill>
            <a:srgbClr val="F3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1069848" y="1490472"/>
            <a:ext cx="6309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14142B"/>
                </a:solidFill>
                <a:latin typeface="Calibri"/>
              </a:rPr>
              <a:t>Galaxy voice assistant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63637E"/>
                </a:solidFill>
                <a:latin typeface="Calibri"/>
              </a:rPr>
              <a:t>"Turn on Wi-Fi calling and how do I stop apps draining battery" retrieved from device manuals while the user is still speaking.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841248" y="2450592"/>
            <a:ext cx="6766560" cy="941832"/>
          </a:xfrm>
          <a:prstGeom prst="roundRect">
            <a:avLst>
              <a:gd name="adj" fmla="val 8000"/>
            </a:avLst>
          </a:prstGeom>
          <a:solidFill>
            <a:srgbClr val="F3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1069848" y="2569464"/>
            <a:ext cx="6309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14142B"/>
                </a:solidFill>
                <a:latin typeface="Calibri"/>
              </a:rPr>
              <a:t>Enterprise help desks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63637E"/>
                </a:solidFill>
                <a:latin typeface="Calibri"/>
              </a:rPr>
              <a:t>HR, travel and IT policy questions with several asks per sentence, answered with citations auditors can check.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841248" y="3529584"/>
            <a:ext cx="6766560" cy="941832"/>
          </a:xfrm>
          <a:prstGeom prst="roundRect">
            <a:avLst>
              <a:gd name="adj" fmla="val 8000"/>
            </a:avLst>
          </a:prstGeom>
          <a:solidFill>
            <a:srgbClr val="F3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1069848" y="3648456"/>
            <a:ext cx="6309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14142B"/>
                </a:solidFill>
                <a:latin typeface="Calibri"/>
              </a:rPr>
              <a:t>In-car and hands-free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63637E"/>
                </a:solidFill>
                <a:latin typeface="Calibri"/>
              </a:rPr>
              <a:t>Drivers add details mid-request ("actually, the route via the highway"). The answer is patched, not restarted.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841248" y="4608576"/>
            <a:ext cx="6766560" cy="941832"/>
          </a:xfrm>
          <a:prstGeom prst="roundRect">
            <a:avLst>
              <a:gd name="adj" fmla="val 8000"/>
            </a:avLst>
          </a:prstGeom>
          <a:solidFill>
            <a:srgbClr val="F3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1069848" y="4727448"/>
            <a:ext cx="6309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14142B"/>
                </a:solidFill>
                <a:latin typeface="Calibri"/>
              </a:rPr>
              <a:t>Live agent assist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63637E"/>
                </a:solidFill>
                <a:latin typeface="Calibri"/>
              </a:rPr>
              <a:t>Surfaces cited policy snippets to a call-centre agent before the customer finishes the sentence.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001000" y="1371600"/>
            <a:ext cx="33832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600" b="1">
                <a:solidFill>
                  <a:srgbClr val="6D28D9"/>
                </a:solidFill>
                <a:latin typeface="Calibri"/>
              </a:rPr>
              <a:t>2.4 ms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63637E"/>
                </a:solidFill>
                <a:latin typeface="Calibri"/>
              </a:rPr>
              <a:t>time to first token after the user stops, even when each search takes 150 ms (batch RAG: 152 ms)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001000" y="2834640"/>
            <a:ext cx="33832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600" b="1">
                <a:solidFill>
                  <a:srgbClr val="6D28D9"/>
                </a:solidFill>
                <a:latin typeface="Calibri"/>
              </a:rPr>
              <a:t>+27 pts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63637E"/>
                </a:solidFill>
                <a:latin typeface="Calibri"/>
              </a:rPr>
              <a:t>answers that cite the right section, vs batch RAG (62.7% → 89.5%)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001000" y="4297680"/>
            <a:ext cx="33832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600" b="1">
                <a:solidFill>
                  <a:srgbClr val="6D28D9"/>
                </a:solidFill>
                <a:latin typeface="Calibri"/>
              </a:rPr>
              <a:t>$0 / turn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63637E"/>
                </a:solidFill>
                <a:latin typeface="Calibri"/>
              </a:rPr>
              <a:t>no LLM in the loop; 16 MB embedding model, CPU only, so it fits on device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Innovation highlights, results and limitations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38" name="TextBox 137"/>
          <p:cNvSpPr txBox="1"/>
          <p:nvPr/>
        </p:nvSpPr>
        <p:spPr>
          <a:xfrm>
            <a:off x="841248" y="132588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704EA6"/>
                </a:solidFill>
                <a:latin typeface="Calibri"/>
              </a:rPr>
              <a:t>Innovation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841248" y="1737360"/>
            <a:ext cx="4937760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spcAft>
                <a:spcPts val="500"/>
              </a:spcAft>
              <a:buChar char="•"/>
            </a:pPr>
            <a:r>
              <a:rPr sz="1300" b="0">
                <a:solidFill>
                  <a:srgbClr val="14142B"/>
                </a:solidFill>
                <a:latin typeface="Calibri"/>
              </a:rPr>
              <a:t>Retrieval controller with dangling-phrase and corpus-IDF stability checks: early retrieval with 0% false triggers</a:t>
            </a:r>
          </a:p>
          <a:p>
            <a:pPr marL="201168" indent="-201168">
              <a:spcAft>
                <a:spcPts val="500"/>
              </a:spcAft>
              <a:buChar char="•"/>
            </a:pPr>
            <a:r>
              <a:rPr sz="1300" b="0">
                <a:solidFill>
                  <a:srgbClr val="14142B"/>
                </a:solidFill>
                <a:latin typeface="Calibri"/>
              </a:rPr>
              <a:t>Speculative retrieval reused only when it covers every final word (93–94% reuse)</a:t>
            </a:r>
          </a:p>
          <a:p>
            <a:pPr marL="201168" indent="-201168">
              <a:spcAft>
                <a:spcPts val="500"/>
              </a:spcAft>
              <a:buChar char="•"/>
            </a:pPr>
            <a:r>
              <a:rPr sz="1300" b="0">
                <a:solidFill>
                  <a:srgbClr val="14142B"/>
                </a:solidFill>
                <a:latin typeface="Calibri"/>
              </a:rPr>
              <a:t>Weak context propagation and entity-conditional scoping across sub-queries</a:t>
            </a:r>
          </a:p>
          <a:p>
            <a:pPr marL="201168" indent="-201168">
              <a:spcAft>
                <a:spcPts val="500"/>
              </a:spcAft>
              <a:buChar char="•"/>
            </a:pPr>
            <a:r>
              <a:rPr sz="1300" b="0">
                <a:solidFill>
                  <a:srgbClr val="14142B"/>
                </a:solidFill>
                <a:latin typeface="Calibri"/>
              </a:rPr>
              <a:t>Versioned answers: preserved, added and superseded claims, plus zero-query reformatting</a:t>
            </a:r>
          </a:p>
          <a:p>
            <a:pPr marL="201168" indent="-201168">
              <a:spcAft>
                <a:spcPts val="500"/>
              </a:spcAft>
              <a:buChar char="•"/>
            </a:pPr>
            <a:r>
              <a:rPr sz="1300" b="0">
                <a:solidFill>
                  <a:srgbClr val="14142B"/>
                </a:solidFill>
                <a:latin typeface="Calibri"/>
              </a:rPr>
              <a:t>Extractive grounding by construction, plus a verifier that keeps an optional LLM honest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41248" y="452628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704EA6"/>
                </a:solidFill>
                <a:latin typeface="Calibri"/>
              </a:rPr>
              <a:t>Limitations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41248" y="493776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spcAft>
                <a:spcPts val="400"/>
              </a:spcAft>
              <a:buChar char="•"/>
            </a:pPr>
            <a:r>
              <a:rPr sz="1300" b="0">
                <a:solidFill>
                  <a:srgbClr val="14142B"/>
                </a:solidFill>
                <a:latin typeface="Calibri"/>
              </a:rPr>
              <a:t>Synonym gaps ("cap" vs "limit") cause 4–6% false "unverified" flags</a:t>
            </a:r>
          </a:p>
          <a:p>
            <a:pPr marL="201168" indent="-201168">
              <a:spcAft>
                <a:spcPts val="400"/>
              </a:spcAft>
              <a:buChar char="•"/>
            </a:pPr>
            <a:r>
              <a:rPr sz="1300" b="0">
                <a:solidFill>
                  <a:srgbClr val="14142B"/>
                </a:solidFill>
                <a:latin typeface="Calibri"/>
              </a:rPr>
              <a:t>Multi-hop joins (city → tier → rate) are cited, not computed</a:t>
            </a:r>
          </a:p>
          <a:p>
            <a:pPr marL="201168" indent="-201168">
              <a:spcAft>
                <a:spcPts val="400"/>
              </a:spcAft>
              <a:buChar char="•"/>
            </a:pPr>
            <a:r>
              <a:rPr sz="1300" b="0">
                <a:solidFill>
                  <a:srgbClr val="14142B"/>
                </a:solidFill>
                <a:latin typeface="Calibri"/>
              </a:rPr>
              <a:t>Harder on real text: 72% evidence recall on the untuned 18F handbook</a:t>
            </a:r>
          </a:p>
        </p:txBody>
      </p:sp>
      <p:graphicFrame>
        <p:nvGraphicFramePr>
          <p:cNvPr id="142" name="Table 141"/>
          <p:cNvGraphicFramePr>
            <a:graphicFrameLocks noGrp="1"/>
          </p:cNvGraphicFramePr>
          <p:nvPr/>
        </p:nvGraphicFramePr>
        <p:xfrm>
          <a:off x="6172200" y="1371600"/>
          <a:ext cx="5166360" cy="38679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777240"/>
                <a:gridCol w="914400"/>
                <a:gridCol w="960120"/>
              </a:tblGrid>
              <a:tr h="42976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Gate (Theme 4)</a:t>
                      </a:r>
                    </a:p>
                  </a:txBody>
                  <a:tcPr marL="91440" marR="91440" marT="36576" marB="36576" anchor="ctr">
                    <a:solidFill>
                      <a:srgbClr val="704EA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 marL="91440" marR="91440" marT="36576" marB="36576" anchor="ctr">
                    <a:solidFill>
                      <a:srgbClr val="704EA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Test-1</a:t>
                      </a:r>
                    </a:p>
                  </a:txBody>
                  <a:tcPr marL="91440" marR="91440" marT="36576" marB="36576" anchor="ctr">
                    <a:solidFill>
                      <a:srgbClr val="704EA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Clean test-2</a:t>
                      </a:r>
                    </a:p>
                  </a:txBody>
                  <a:tcPr marL="91440" marR="91440" marT="36576" marB="36576" anchor="ctr">
                    <a:solidFill>
                      <a:srgbClr val="704EA6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  <a:latin typeface="Calibri"/>
                        </a:rPr>
                        <a:t>G1 one-command run, unattended replay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  <a:latin typeface="Calibri"/>
                        </a:rPr>
                        <a:t>G2 early retrieval</a:t>
                      </a:r>
                    </a:p>
                  </a:txBody>
                  <a:tcPr marL="91440" marR="91440" marT="36576" marB="36576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  <a:latin typeface="Calibri"/>
                        </a:rPr>
                        <a:t>≥ 80%</a:t>
                      </a:r>
                    </a:p>
                  </a:txBody>
                  <a:tcPr marL="91440" marR="91440" marT="36576" marB="36576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91440" marR="91440" marT="36576" marB="36576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91440" marR="91440" marT="36576" marB="36576" anchor="ctr">
                    <a:solidFill>
                      <a:srgbClr val="F3F0FA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  <a:latin typeface="Calibri"/>
                        </a:rPr>
                        <a:t>G3 multi-intent identification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  <a:latin typeface="Calibri"/>
                        </a:rPr>
                        <a:t>≥ 70%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  <a:latin typeface="Calibri"/>
                        </a:rPr>
                        <a:t>G4 citation support / fabricated</a:t>
                      </a:r>
                    </a:p>
                  </a:txBody>
                  <a:tcPr marL="91440" marR="91440" marT="36576" marB="36576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  <a:latin typeface="Calibri"/>
                        </a:rPr>
                        <a:t>≥ 85%</a:t>
                      </a:r>
                    </a:p>
                  </a:txBody>
                  <a:tcPr marL="91440" marR="91440" marT="36576" marB="36576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  <a:latin typeface="Calibri"/>
                        </a:rPr>
                        <a:t>100% / 0</a:t>
                      </a:r>
                    </a:p>
                  </a:txBody>
                  <a:tcPr marL="91440" marR="91440" marT="36576" marB="36576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  <a:latin typeface="Calibri"/>
                        </a:rPr>
                        <a:t>100% / 0</a:t>
                      </a:r>
                    </a:p>
                  </a:txBody>
                  <a:tcPr marL="91440" marR="91440" marT="36576" marB="36576" anchor="ctr">
                    <a:solidFill>
                      <a:srgbClr val="F3F0FA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  <a:latin typeface="Calibri"/>
                        </a:rPr>
                        <a:t>G5 refinement continuity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  <a:latin typeface="Calibri"/>
                        </a:rPr>
                        <a:t>G6 telemetry coverage</a:t>
                      </a:r>
                    </a:p>
                  </a:txBody>
                  <a:tcPr marL="91440" marR="91440" marT="36576" marB="36576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91440" marR="91440" marT="36576" marB="36576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91440" marR="91440" marT="36576" marB="36576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91440" marR="91440" marT="36576" marB="36576" anchor="ctr">
                    <a:solidFill>
                      <a:srgbClr val="F3F0FA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  <a:latin typeface="Calibri"/>
                        </a:rPr>
                        <a:t>Evidence recall (baseline 62.7%)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  <a:latin typeface="Calibri"/>
                        </a:rPr>
                        <a:t>89.5%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  <a:latin typeface="Calibri"/>
                        </a:rPr>
                        <a:t>95.8%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  <a:latin typeface="Calibri"/>
                        </a:rPr>
                        <a:t>Key-fact recall (baseline 62.3%)</a:t>
                      </a:r>
                    </a:p>
                  </a:txBody>
                  <a:tcPr marL="91440" marR="91440" marT="36576" marB="36576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91440" marR="91440" marT="36576" marB="36576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  <a:latin typeface="Calibri"/>
                        </a:rPr>
                        <a:t>85.5%</a:t>
                      </a:r>
                    </a:p>
                  </a:txBody>
                  <a:tcPr marL="91440" marR="91440" marT="36576" marB="36576" anchor="ctr">
                    <a:solidFill>
                      <a:srgbClr val="F3F0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4142B"/>
                          </a:solidFill>
                          <a:latin typeface="Calibri"/>
                        </a:rPr>
                        <a:t>83.3%</a:t>
                      </a:r>
                    </a:p>
                  </a:txBody>
                  <a:tcPr marL="91440" marR="91440" marT="36576" marB="36576" anchor="ctr">
                    <a:solidFill>
                      <a:srgbClr val="F3F0FA"/>
                    </a:solidFill>
                  </a:tcPr>
                </a:tc>
              </a:tr>
            </a:tbl>
          </a:graphicData>
        </a:graphic>
      </p:graphicFrame>
      <p:sp>
        <p:nvSpPr>
          <p:cNvPr id="143" name="TextBox 142"/>
          <p:cNvSpPr txBox="1"/>
          <p:nvPr/>
        </p:nvSpPr>
        <p:spPr>
          <a:xfrm>
            <a:off x="6172200" y="5330952"/>
            <a:ext cx="5166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3637E"/>
                </a:solidFill>
                <a:latin typeface="Calibri"/>
              </a:rPr>
              <a:t>Test-2 was frozen before any error analysis and never used for tuning. Full report: reports/metrics.md.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What’s next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44" name="Rounded Rectangle 143"/>
          <p:cNvSpPr/>
          <p:nvPr/>
        </p:nvSpPr>
        <p:spPr>
          <a:xfrm>
            <a:off x="841248" y="1371600"/>
            <a:ext cx="5117592" cy="1325880"/>
          </a:xfrm>
          <a:prstGeom prst="roundRect">
            <a:avLst>
              <a:gd name="adj" fmla="val 8000"/>
            </a:avLst>
          </a:prstGeom>
          <a:solidFill>
            <a:srgbClr val="F3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1069848" y="1508760"/>
            <a:ext cx="466039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704EA6"/>
                </a:solidFill>
                <a:latin typeface="Calibri"/>
              </a:rPr>
              <a:t>On-device for Galaxy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4142B"/>
                </a:solidFill>
                <a:latin typeface="Calibri"/>
              </a:rPr>
              <a:t>Port the controller and index to Android (ONNX / Kotlin); the 16 MB embedding model and ~1 ms decisions already fit a phone budget.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6233160" y="1371600"/>
            <a:ext cx="5117592" cy="1325880"/>
          </a:xfrm>
          <a:prstGeom prst="roundRect">
            <a:avLst>
              <a:gd name="adj" fmla="val 8000"/>
            </a:avLst>
          </a:prstGeom>
          <a:solidFill>
            <a:srgbClr val="F3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6461760" y="1508760"/>
            <a:ext cx="466039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704EA6"/>
                </a:solidFill>
                <a:latin typeface="Calibri"/>
              </a:rPr>
              <a:t>Audio-native endpointing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4142B"/>
                </a:solidFill>
                <a:latin typeface="Calibri"/>
              </a:rPr>
              <a:t>Use VAD and prosody, not only transcript punctuation, to time retrieval and handle barge-in during the spoken answer.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841248" y="2852928"/>
            <a:ext cx="5117592" cy="1325880"/>
          </a:xfrm>
          <a:prstGeom prst="roundRect">
            <a:avLst>
              <a:gd name="adj" fmla="val 8000"/>
            </a:avLst>
          </a:prstGeom>
          <a:solidFill>
            <a:srgbClr val="F3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1069848" y="2990088"/>
            <a:ext cx="466039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704EA6"/>
                </a:solidFill>
                <a:latin typeface="Calibri"/>
              </a:rPr>
              <a:t>Close the synonym gap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4142B"/>
                </a:solidFill>
                <a:latin typeface="Calibri"/>
              </a:rPr>
              <a:t>A small cross-encoder, or the optional LLM, used only as a verifier when coverage is borderline (≈20–50 ms).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6233160" y="2852928"/>
            <a:ext cx="5117592" cy="1325880"/>
          </a:xfrm>
          <a:prstGeom prst="roundRect">
            <a:avLst>
              <a:gd name="adj" fmla="val 8000"/>
            </a:avLst>
          </a:prstGeom>
          <a:solidFill>
            <a:srgbClr val="F3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461760" y="2990088"/>
            <a:ext cx="466039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704EA6"/>
                </a:solidFill>
                <a:latin typeface="Calibri"/>
              </a:rPr>
              <a:t>Learn the controller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4142B"/>
                </a:solidFill>
                <a:latin typeface="Calibri"/>
              </a:rPr>
              <a:t>Train the wait/retrieve policy on logged traces to trade lead time against wasted queries per user population.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841248" y="4334256"/>
            <a:ext cx="5117592" cy="1325880"/>
          </a:xfrm>
          <a:prstGeom prst="roundRect">
            <a:avLst>
              <a:gd name="adj" fmla="val 8000"/>
            </a:avLst>
          </a:prstGeom>
          <a:solidFill>
            <a:srgbClr val="F3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1069848" y="4471416"/>
            <a:ext cx="466039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704EA6"/>
                </a:solidFill>
                <a:latin typeface="Calibri"/>
              </a:rPr>
              <a:t>Multilingual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4142B"/>
                </a:solidFill>
                <a:latin typeface="Calibri"/>
              </a:rPr>
              <a:t>Hindi, Korean and code-mixed speech with multilingual static embeddings and language-aware segmentation.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6233160" y="4334256"/>
            <a:ext cx="5117592" cy="1325880"/>
          </a:xfrm>
          <a:prstGeom prst="roundRect">
            <a:avLst>
              <a:gd name="adj" fmla="val 8000"/>
            </a:avLst>
          </a:prstGeom>
          <a:solidFill>
            <a:srgbClr val="F3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6461760" y="4471416"/>
            <a:ext cx="466039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704EA6"/>
                </a:solidFill>
                <a:latin typeface="Calibri"/>
              </a:rPr>
              <a:t>Salient entities on real corpora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4142B"/>
                </a:solidFill>
                <a:latin typeface="Calibri"/>
              </a:rPr>
              <a:t>Filter link text and boilerplate before entities can scope a query (the main 18F failure mode).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Brownie points slide( differentiation)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50" name="Rounded Rectangle 149"/>
          <p:cNvSpPr/>
          <p:nvPr/>
        </p:nvSpPr>
        <p:spPr>
          <a:xfrm>
            <a:off x="841248" y="1371600"/>
            <a:ext cx="3320288" cy="2057400"/>
          </a:xfrm>
          <a:prstGeom prst="roundRect">
            <a:avLst>
              <a:gd name="adj" fmla="val 8000"/>
            </a:avLst>
          </a:prstGeom>
          <a:solidFill>
            <a:srgbClr val="F3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1042416" y="1536192"/>
            <a:ext cx="291795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704EA6"/>
                </a:solidFill>
                <a:latin typeface="Calibri"/>
              </a:rPr>
              <a:t>Reproduces the guide, line by line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4142B"/>
                </a:solidFill>
                <a:latin typeface="Calibri"/>
              </a:rPr>
              <a:t>All three worked examples in the Theme 4 guide replay as specified: provisional retrieval at 0.8 s, refinement without restart, reformatting with retrieval_required: false.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4435856" y="1371600"/>
            <a:ext cx="3320288" cy="2057400"/>
          </a:xfrm>
          <a:prstGeom prst="roundRect">
            <a:avLst>
              <a:gd name="adj" fmla="val 8000"/>
            </a:avLst>
          </a:prstGeom>
          <a:solidFill>
            <a:srgbClr val="F3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4637024" y="1536192"/>
            <a:ext cx="291795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704EA6"/>
                </a:solidFill>
                <a:latin typeface="Calibri"/>
              </a:rPr>
              <a:t>Honest measurement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4142B"/>
                </a:solidFill>
                <a:latin typeface="Calibri"/>
              </a:rPr>
              <a:t>Frozen splits with SHA-256 hashes, a clean test-2, a real untuned corpus, the first pre-analysis run kept, and every failure listed.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8030464" y="1371600"/>
            <a:ext cx="3320288" cy="2057400"/>
          </a:xfrm>
          <a:prstGeom prst="roundRect">
            <a:avLst>
              <a:gd name="adj" fmla="val 8000"/>
            </a:avLst>
          </a:prstGeom>
          <a:solidFill>
            <a:srgbClr val="F3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8231632" y="1536192"/>
            <a:ext cx="291795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704EA6"/>
                </a:solidFill>
                <a:latin typeface="Calibri"/>
              </a:rPr>
              <a:t>Nothing hard-coded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4142B"/>
                </a:solidFill>
                <a:latin typeface="Calibri"/>
              </a:rPr>
              <a:t>Entities, scopes, aspects and capacity words are mined from the corpus; the same code runs on the 18F handbook.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841248" y="3611880"/>
            <a:ext cx="3320288" cy="2057400"/>
          </a:xfrm>
          <a:prstGeom prst="roundRect">
            <a:avLst>
              <a:gd name="adj" fmla="val 8000"/>
            </a:avLst>
          </a:prstGeom>
          <a:solidFill>
            <a:srgbClr val="F3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1042416" y="3776472"/>
            <a:ext cx="291795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704EA6"/>
                </a:solidFill>
                <a:latin typeface="Calibri"/>
              </a:rPr>
              <a:t>Latency hiding, quantified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4142B"/>
                </a:solidFill>
                <a:latin typeface="Calibri"/>
              </a:rPr>
              <a:t>With a 150 ms retrieval stack, Kairos starts answering in 2.4 ms against 152 ms for batch RAG (replayed traces).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4435856" y="3611880"/>
            <a:ext cx="3320288" cy="2057400"/>
          </a:xfrm>
          <a:prstGeom prst="roundRect">
            <a:avLst>
              <a:gd name="adj" fmla="val 8000"/>
            </a:avLst>
          </a:prstGeom>
          <a:solidFill>
            <a:srgbClr val="F3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4637024" y="3776472"/>
            <a:ext cx="291795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704EA6"/>
                </a:solidFill>
                <a:latin typeface="Calibri"/>
              </a:rPr>
              <a:t>Zero-cost by default, LLM-ready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4142B"/>
                </a:solidFill>
                <a:latin typeface="Calibri"/>
              </a:rPr>
              <a:t>CPU only, $0 per turn; an optional LLM is wrapped in a verifier that drops fabricated citations (tested).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8030464" y="3611880"/>
            <a:ext cx="3320288" cy="2057400"/>
          </a:xfrm>
          <a:prstGeom prst="roundRect">
            <a:avLst>
              <a:gd name="adj" fmla="val 8000"/>
            </a:avLst>
          </a:prstGeom>
          <a:solidFill>
            <a:srgbClr val="F3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8231632" y="3776472"/>
            <a:ext cx="291795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600" b="1">
                <a:solidFill>
                  <a:srgbClr val="704EA6"/>
                </a:solidFill>
                <a:latin typeface="Calibri"/>
              </a:rPr>
              <a:t>Production hygiene</a:t>
            </a:r>
          </a:p>
          <a:p>
            <a:pPr algn="l">
              <a:lnSpc>
                <a:spcPct val="100000"/>
              </a:lnSpc>
            </a:pPr>
            <a:r>
              <a:rPr sz="1300" b="0">
                <a:solidFill>
                  <a:srgbClr val="14142B"/>
                </a:solidFill>
                <a:latin typeface="Calibri"/>
              </a:rPr>
              <a:t>One-command Docker, CI building the image and running the replay suite, schema-validated traces, 16 tests.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Checklist- Updated on Public GitHub</a:t>
            </a:r>
            <a:endParaRPr/>
          </a:p>
        </p:txBody>
      </p:sp>
      <p:sp>
        <p:nvSpPr>
          <p:cNvPr id="156" name="Google Shape;156;p1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177800" lvl="0" marL="177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</a:pPr>
            <a:r>
              <a:rPr lang="en-US" sz="280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Working prototype code — public GitHub repo: Y (github.com/CodeThread386/kairos-streaming-rag)</a:t>
            </a:r>
            <a:endParaRPr sz="2800"/>
          </a:p>
          <a:p>
            <a:pPr indent="-177800" lvl="0" marL="177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</a:pPr>
            <a:r>
              <a:rPr lang="en-US" sz="280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README with reproducible setup instructions: Y (one-command Docker run, local steps, API and CLI examples)</a:t>
            </a:r>
            <a:endParaRPr sz="2800"/>
          </a:p>
          <a:p>
            <a:pPr indent="-177800" lvl="0" marL="177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</a:pPr>
            <a:r>
              <a:rPr lang="en-US" sz="280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Demo video, max 5 minutes: Y (demo/kairos_demo.mp4, 3 min 30 s, in the tagged commit)</a:t>
            </a:r>
            <a:endParaRPr sz="2800"/>
          </a:p>
          <a:p>
            <a:pPr indent="-177800" lvl="0" marL="177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</a:pPr>
            <a:r>
              <a:rPr lang="en-US" sz="280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Presentation file (PPT or PDF): Y (presentation/VITV_Kairos_Submission.pptx + .pdf)</a:t>
            </a:r>
            <a:endParaRPr sz="2800"/>
          </a:p>
          <a:p>
            <a:pPr indent="-177800" lvl="0" marL="177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</a:pPr>
            <a:r>
              <a:rPr lang="en-US" sz="280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AI disclosure: Y (docs/AI_DISCLOSURE.md + filled LangAI3.0 form)</a:t>
            </a:r>
            <a:endParaRPr sz="2800"/>
          </a:p>
          <a:p>
            <a:pPr indent="-177800" lvl="0" marL="177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</a:pPr>
            <a:r>
              <a:rPr lang="en-US" sz="280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requirements.txt, Dockerfile, docker-compose.yml, tests, benchmark report: Y</a:t>
            </a:r>
            <a:endParaRPr sz="2800"/>
          </a:p>
          <a:p>
            <a:pPr indent="-177800" lvl="0" marL="177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</a:pPr>
            <a:r>
              <a:rPr lang="en-US" sz="280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Release tag PRISM_GENAI_HACKATHON_Y2026 on the final commit: Y</a:t>
            </a:r>
            <a:endParaRPr sz="28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2"/>
          <p:cNvSpPr txBox="1"/>
          <p:nvPr/>
        </p:nvSpPr>
        <p:spPr>
          <a:xfrm>
            <a:off x="1046181" y="3730214"/>
            <a:ext cx="676656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4600"/>
              <a:buFont typeface="Arial"/>
              <a:buNone/>
            </a:pPr>
            <a:r>
              <a:rPr b="1" i="0" lang="en-US" sz="46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b="0" i="0" sz="4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2"/>
          <p:cNvSpPr txBox="1"/>
          <p:nvPr/>
        </p:nvSpPr>
        <p:spPr>
          <a:xfrm>
            <a:off x="777240" y="5897880"/>
            <a:ext cx="106070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Organised by the Language AI Team and the PRISM Team, Samsung R&amp;D Institute India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2026-09-07T12:01:01Z</dcterms:created>
  <dc:creator>Binny Lakra/PRISM /SRI-Bangalore/Professional/Samsung Electronics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SCPROP">
    <vt:lpwstr>NSCCustomProperty</vt:lpwstr>
  </property>
</Properties>
</file>